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oppins Light"/>
      <p:regular r:id="rId17"/>
    </p:embeddedFont>
    <p:embeddedFont>
      <p:font typeface="Poppins Light"/>
      <p:regular r:id="rId18"/>
    </p:embeddedFont>
    <p:embeddedFont>
      <p:font typeface="Poppins Light"/>
      <p:regular r:id="rId19"/>
    </p:embeddedFont>
    <p:embeddedFont>
      <p:font typeface="Poppins Light"/>
      <p:regular r:id="rId20"/>
    </p:embeddedFont>
    <p:embeddedFont>
      <p:font typeface="Roboto Light"/>
      <p:regular r:id="rId21"/>
    </p:embeddedFont>
    <p:embeddedFont>
      <p:font typeface="Roboto Light"/>
      <p:regular r:id="rId22"/>
    </p:embeddedFont>
    <p:embeddedFont>
      <p:font typeface="Roboto Light"/>
      <p:regular r:id="rId23"/>
    </p:embeddedFont>
    <p:embeddedFont>
      <p:font typeface="Roboto Ligh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Uncovering spending patterns, customer segments, and product preferences from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3,900 transactions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to guide strategic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2676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24112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909637" y="24689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72433" y="1824112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3685952" y="24689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Columns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48747" y="1824112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6462266" y="24689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Missing Ratings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290304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6119" y="3337099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Demographics: Age, Gender, Location, Subscription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Purchase: Item, Category, Amount, Season, Size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Behavior: Discounts, Frequency, Rating, Shipping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8610" y="375717"/>
            <a:ext cx="4260056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Preparation in Python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3878610" y="951756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878610" y="1155799"/>
            <a:ext cx="4815780" cy="14288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6" name="Text 3"/>
          <p:cNvSpPr/>
          <p:nvPr/>
        </p:nvSpPr>
        <p:spPr>
          <a:xfrm>
            <a:off x="3878610" y="124859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Load &amp; Explore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878610" y="1519089"/>
            <a:ext cx="4815780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Imported with 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; used 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and 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78610" y="1937221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878610" y="2141265"/>
            <a:ext cx="4815780" cy="14288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0" name="Text 7"/>
          <p:cNvSpPr/>
          <p:nvPr/>
        </p:nvSpPr>
        <p:spPr>
          <a:xfrm>
            <a:off x="3878610" y="2234059"/>
            <a:ext cx="16238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Clean &amp; Standardize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878610" y="2504554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Imputed missing ratings by category median; renamed columns to snake_case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78610" y="2913162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78610" y="3117205"/>
            <a:ext cx="4815780" cy="14288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4" name="Text 11"/>
          <p:cNvSpPr/>
          <p:nvPr/>
        </p:nvSpPr>
        <p:spPr>
          <a:xfrm>
            <a:off x="3878610" y="3209999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878610" y="3480495"/>
            <a:ext cx="4815780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Created 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and 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columns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878610" y="3898627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878610" y="4102671"/>
            <a:ext cx="4815780" cy="14288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8" name="Text 15"/>
          <p:cNvSpPr/>
          <p:nvPr/>
        </p:nvSpPr>
        <p:spPr>
          <a:xfrm>
            <a:off x="3878610" y="4195465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Load to PostgreSQL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878610" y="4465960"/>
            <a:ext cx="4815780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Connected Python to PostgreSQL; dropped redundant 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9310"/>
            <a:ext cx="506596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Revenue &amp; Spending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04367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33404" y="2159198"/>
            <a:ext cx="145256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158k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2269056" y="3183136"/>
            <a:ext cx="15984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75.2k</a:t>
            </a:r>
            <a:endParaRPr lang="en-US" sz="400" dirty="0"/>
          </a:p>
        </p:txBody>
      </p:sp>
      <p:sp>
        <p:nvSpPr>
          <p:cNvPr id="6" name="Text 3"/>
          <p:cNvSpPr/>
          <p:nvPr/>
        </p:nvSpPr>
        <p:spPr>
          <a:xfrm>
            <a:off x="4749701" y="1586657"/>
            <a:ext cx="21113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Shipping Type vs. Spend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749701" y="1967582"/>
            <a:ext cx="3902943" cy="1238399"/>
          </a:xfrm>
          <a:prstGeom prst="roundRect">
            <a:avLst>
              <a:gd name="adj" fmla="val 480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6296" y="2062163"/>
            <a:ext cx="1663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Shipping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42968" y="2062163"/>
            <a:ext cx="1663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Avg. Spend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96296" y="2473375"/>
            <a:ext cx="1663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Standard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42968" y="2473375"/>
            <a:ext cx="1663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$58.46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96296" y="2884587"/>
            <a:ext cx="1663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Express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42968" y="2884587"/>
            <a:ext cx="1663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$60.48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49701" y="3365450"/>
            <a:ext cx="3902943" cy="829196"/>
          </a:xfrm>
          <a:prstGeom prst="roundRect">
            <a:avLst>
              <a:gd name="adj" fmla="val 7181"/>
            </a:avLst>
          </a:prstGeom>
          <a:solidFill>
            <a:srgbClr val="02234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580507"/>
            <a:ext cx="177180" cy="14175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10398" y="3542630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839 discount users still spent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above average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high-value segment.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873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Top-Rated Products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3788"/>
            <a:ext cx="4327773" cy="25375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73223" y="1764298"/>
            <a:ext cx="132457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3.86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4452595" y="2219593"/>
            <a:ext cx="132457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3.84</a:t>
            </a:r>
            <a:endParaRPr lang="en-US" sz="400" dirty="0"/>
          </a:p>
        </p:txBody>
      </p:sp>
      <p:sp>
        <p:nvSpPr>
          <p:cNvPr id="6" name="Text 3"/>
          <p:cNvSpPr/>
          <p:nvPr/>
        </p:nvSpPr>
        <p:spPr>
          <a:xfrm>
            <a:off x="4433753" y="2674888"/>
            <a:ext cx="132457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3.82</a:t>
            </a:r>
            <a:endParaRPr lang="en-US" sz="400" dirty="0"/>
          </a:p>
        </p:txBody>
      </p:sp>
      <p:sp>
        <p:nvSpPr>
          <p:cNvPr id="7" name="Text 4"/>
          <p:cNvSpPr/>
          <p:nvPr/>
        </p:nvSpPr>
        <p:spPr>
          <a:xfrm>
            <a:off x="4444975" y="3130183"/>
            <a:ext cx="10269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3.8</a:t>
            </a:r>
            <a:endParaRPr lang="en-US" sz="400" dirty="0"/>
          </a:p>
        </p:txBody>
      </p:sp>
      <p:sp>
        <p:nvSpPr>
          <p:cNvPr id="8" name="Text 5"/>
          <p:cNvSpPr/>
          <p:nvPr/>
        </p:nvSpPr>
        <p:spPr>
          <a:xfrm>
            <a:off x="4395326" y="3585478"/>
            <a:ext cx="132457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3.78</a:t>
            </a:r>
            <a:endParaRPr lang="en-US" sz="400" dirty="0"/>
          </a:p>
        </p:txBody>
      </p:sp>
      <p:sp>
        <p:nvSpPr>
          <p:cNvPr id="9" name="Text 6"/>
          <p:cNvSpPr/>
          <p:nvPr/>
        </p:nvSpPr>
        <p:spPr>
          <a:xfrm>
            <a:off x="5174531" y="1476077"/>
            <a:ext cx="22205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Discount-Heavy Products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174531" y="1857003"/>
            <a:ext cx="3478039" cy="2448223"/>
          </a:xfrm>
          <a:prstGeom prst="roundRect">
            <a:avLst>
              <a:gd name="adj" fmla="val 2432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79293" y="1861765"/>
            <a:ext cx="3468514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321126" y="1951583"/>
            <a:ext cx="14483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Item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57727" y="1951583"/>
            <a:ext cx="14483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Discount Rate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179293" y="2268215"/>
            <a:ext cx="3468514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321126" y="2358033"/>
            <a:ext cx="14483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Hat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57727" y="2358033"/>
            <a:ext cx="14483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50.00%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179293" y="2674665"/>
            <a:ext cx="3468514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321126" y="2764482"/>
            <a:ext cx="14483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Sneakers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057727" y="2764482"/>
            <a:ext cx="14483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49.66%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179293" y="3081114"/>
            <a:ext cx="3468514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321126" y="3170932"/>
            <a:ext cx="14483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Coat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57727" y="3170932"/>
            <a:ext cx="14483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49.07%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179293" y="3487564"/>
            <a:ext cx="3468514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5321126" y="3577382"/>
            <a:ext cx="14483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Sweater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057727" y="3577382"/>
            <a:ext cx="14483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48.17%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179293" y="3894013"/>
            <a:ext cx="3468514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5321126" y="3983831"/>
            <a:ext cx="14483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Pants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057727" y="3983831"/>
            <a:ext cx="14483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47.37%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5061"/>
            <a:ext cx="43335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67743"/>
            <a:ext cx="3902943" cy="22608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19003" y="3440823"/>
            <a:ext cx="142503" cy="61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79.9%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1228801" y="1710365"/>
            <a:ext cx="172269" cy="61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17.97%</a:t>
            </a:r>
            <a:endParaRPr lang="en-US" sz="400" dirty="0"/>
          </a:p>
        </p:txBody>
      </p:sp>
      <p:sp>
        <p:nvSpPr>
          <p:cNvPr id="6" name="Text 3"/>
          <p:cNvSpPr/>
          <p:nvPr/>
        </p:nvSpPr>
        <p:spPr>
          <a:xfrm>
            <a:off x="1867586" y="1462980"/>
            <a:ext cx="142503" cy="61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2.13%</a:t>
            </a:r>
            <a:endParaRPr lang="en-US" sz="400" dirty="0"/>
          </a:p>
        </p:txBody>
      </p:sp>
      <p:sp>
        <p:nvSpPr>
          <p:cNvPr id="7" name="Shape 4"/>
          <p:cNvSpPr/>
          <p:nvPr/>
        </p:nvSpPr>
        <p:spPr>
          <a:xfrm>
            <a:off x="3184550" y="2373734"/>
            <a:ext cx="496119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1010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887" y="2396579"/>
            <a:ext cx="57150" cy="571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03612" y="2388022"/>
            <a:ext cx="353244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Loyal·79.9%</a:t>
            </a:r>
            <a:endParaRPr lang="en-US" sz="450" dirty="0"/>
          </a:p>
        </p:txBody>
      </p:sp>
      <p:sp>
        <p:nvSpPr>
          <p:cNvPr id="10" name="Text 6"/>
          <p:cNvSpPr/>
          <p:nvPr/>
        </p:nvSpPr>
        <p:spPr>
          <a:xfrm>
            <a:off x="3439492" y="2388022"/>
            <a:ext cx="217363" cy="74265"/>
          </a:xfrm>
          <a:prstGeom prst="rect">
            <a:avLst/>
          </a:prstGeom>
          <a:noFill/>
          <a:ln/>
        </p:spPr>
        <p:txBody>
          <a:bodyPr wrap="none" lIns="0" tIns="2286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·79.9%</a:t>
            </a:r>
            <a:endParaRPr lang="en-US" sz="450" dirty="0"/>
          </a:p>
        </p:txBody>
      </p:sp>
      <p:sp>
        <p:nvSpPr>
          <p:cNvPr id="11" name="Text 7"/>
          <p:cNvSpPr/>
          <p:nvPr/>
        </p:nvSpPr>
        <p:spPr>
          <a:xfrm>
            <a:off x="3462338" y="2388022"/>
            <a:ext cx="16222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450" dirty="0"/>
          </a:p>
        </p:txBody>
      </p:sp>
      <p:sp>
        <p:nvSpPr>
          <p:cNvPr id="12" name="Shape 8"/>
          <p:cNvSpPr/>
          <p:nvPr/>
        </p:nvSpPr>
        <p:spPr>
          <a:xfrm>
            <a:off x="3184550" y="2514674"/>
            <a:ext cx="640928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1010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887" y="2537520"/>
            <a:ext cx="57150" cy="571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03612" y="2528962"/>
            <a:ext cx="498053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Returning·17.97%</a:t>
            </a:r>
            <a:endParaRPr lang="en-US" sz="450" dirty="0"/>
          </a:p>
        </p:txBody>
      </p:sp>
      <p:sp>
        <p:nvSpPr>
          <p:cNvPr id="15" name="Text 10"/>
          <p:cNvSpPr/>
          <p:nvPr/>
        </p:nvSpPr>
        <p:spPr>
          <a:xfrm>
            <a:off x="3551858" y="2528962"/>
            <a:ext cx="249808" cy="74265"/>
          </a:xfrm>
          <a:prstGeom prst="rect">
            <a:avLst/>
          </a:prstGeom>
          <a:noFill/>
          <a:ln/>
        </p:spPr>
        <p:txBody>
          <a:bodyPr wrap="none" lIns="0" tIns="2286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·17.97%</a:t>
            </a:r>
            <a:endParaRPr lang="en-US" sz="450" dirty="0"/>
          </a:p>
        </p:txBody>
      </p:sp>
      <p:sp>
        <p:nvSpPr>
          <p:cNvPr id="16" name="Text 11"/>
          <p:cNvSpPr/>
          <p:nvPr/>
        </p:nvSpPr>
        <p:spPr>
          <a:xfrm>
            <a:off x="3574703" y="2528962"/>
            <a:ext cx="16222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450" dirty="0"/>
          </a:p>
        </p:txBody>
      </p:sp>
      <p:sp>
        <p:nvSpPr>
          <p:cNvPr id="17" name="Shape 12"/>
          <p:cNvSpPr/>
          <p:nvPr/>
        </p:nvSpPr>
        <p:spPr>
          <a:xfrm>
            <a:off x="3184550" y="2655615"/>
            <a:ext cx="473869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1010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7887" y="2678460"/>
            <a:ext cx="57150" cy="571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303612" y="2669902"/>
            <a:ext cx="330994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New·2.13%</a:t>
            </a:r>
            <a:endParaRPr lang="en-US" sz="450" dirty="0"/>
          </a:p>
        </p:txBody>
      </p:sp>
      <p:sp>
        <p:nvSpPr>
          <p:cNvPr id="20" name="Text 14"/>
          <p:cNvSpPr/>
          <p:nvPr/>
        </p:nvSpPr>
        <p:spPr>
          <a:xfrm>
            <a:off x="3417243" y="2669902"/>
            <a:ext cx="217363" cy="74265"/>
          </a:xfrm>
          <a:prstGeom prst="rect">
            <a:avLst/>
          </a:prstGeom>
          <a:noFill/>
          <a:ln/>
        </p:spPr>
        <p:txBody>
          <a:bodyPr wrap="none" lIns="0" tIns="2286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·2.13%</a:t>
            </a:r>
            <a:endParaRPr lang="en-US" sz="450" dirty="0"/>
          </a:p>
        </p:txBody>
      </p:sp>
      <p:sp>
        <p:nvSpPr>
          <p:cNvPr id="21" name="Text 15"/>
          <p:cNvSpPr/>
          <p:nvPr/>
        </p:nvSpPr>
        <p:spPr>
          <a:xfrm>
            <a:off x="3440088" y="2669902"/>
            <a:ext cx="16222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450" dirty="0"/>
          </a:p>
        </p:txBody>
      </p:sp>
      <p:sp>
        <p:nvSpPr>
          <p:cNvPr id="22" name="Text 16"/>
          <p:cNvSpPr/>
          <p:nvPr/>
        </p:nvSpPr>
        <p:spPr>
          <a:xfrm>
            <a:off x="4749701" y="1402407"/>
            <a:ext cx="2654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Repeat Buyers &amp; Subscriptions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749701" y="1765622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Customers with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&gt;5 purchases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749701" y="2151906"/>
            <a:ext cx="3902943" cy="1238399"/>
          </a:xfrm>
          <a:prstGeom prst="roundRect">
            <a:avLst>
              <a:gd name="adj" fmla="val 480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896296" y="2246486"/>
            <a:ext cx="1663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Subscribed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842968" y="2246486"/>
            <a:ext cx="1663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Count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896296" y="2657698"/>
            <a:ext cx="1663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842968" y="2657698"/>
            <a:ext cx="1663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2,518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896296" y="3068910"/>
            <a:ext cx="1663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Yes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842968" y="3068910"/>
            <a:ext cx="1663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958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749701" y="3549774"/>
            <a:ext cx="3902943" cy="829196"/>
          </a:xfrm>
          <a:prstGeom prst="roundRect">
            <a:avLst>
              <a:gd name="adj" fmla="val 7181"/>
            </a:avLst>
          </a:prstGeom>
          <a:solidFill>
            <a:srgbClr val="4B3F02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1460" y="3764831"/>
            <a:ext cx="177180" cy="141759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10398" y="3726954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Most repeat buyers are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not subscribed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a key conversion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544971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Subscription &amp; Revenue by Age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0669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16814" y="2105546"/>
            <a:ext cx="15984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62.1k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3855433" y="2617515"/>
            <a:ext cx="15984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59.2k</a:t>
            </a:r>
            <a:endParaRPr lang="en-US" sz="400" dirty="0"/>
          </a:p>
        </p:txBody>
      </p:sp>
      <p:sp>
        <p:nvSpPr>
          <p:cNvPr id="6" name="Text 3"/>
          <p:cNvSpPr/>
          <p:nvPr/>
        </p:nvSpPr>
        <p:spPr>
          <a:xfrm>
            <a:off x="3731483" y="3129483"/>
            <a:ext cx="11549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56k</a:t>
            </a:r>
            <a:endParaRPr lang="en-US" sz="400" dirty="0"/>
          </a:p>
        </p:txBody>
      </p:sp>
      <p:sp>
        <p:nvSpPr>
          <p:cNvPr id="7" name="Text 4"/>
          <p:cNvSpPr/>
          <p:nvPr/>
        </p:nvSpPr>
        <p:spPr>
          <a:xfrm>
            <a:off x="3675673" y="3641452"/>
            <a:ext cx="15984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55.8k</a:t>
            </a:r>
            <a:endParaRPr lang="en-US" sz="400" dirty="0"/>
          </a:p>
        </p:txBody>
      </p:sp>
      <p:sp>
        <p:nvSpPr>
          <p:cNvPr id="8" name="Text 5"/>
          <p:cNvSpPr/>
          <p:nvPr/>
        </p:nvSpPr>
        <p:spPr>
          <a:xfrm>
            <a:off x="4749701" y="1788988"/>
            <a:ext cx="27970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Subscribers vs. Non-Subscribers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749701" y="2169914"/>
            <a:ext cx="3902943" cy="1455688"/>
          </a:xfrm>
          <a:prstGeom prst="roundRect">
            <a:avLst>
              <a:gd name="adj" fmla="val 409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463" y="2174677"/>
            <a:ext cx="3893418" cy="6332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896296" y="2264494"/>
            <a:ext cx="6874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Status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72014" y="2264494"/>
            <a:ext cx="6850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45350" y="2264494"/>
            <a:ext cx="6850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Avg. Spend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818686" y="2264494"/>
            <a:ext cx="6874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Revenue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463" y="2807940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896296" y="2897758"/>
            <a:ext cx="6874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Yes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72014" y="2897758"/>
            <a:ext cx="6850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1,053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45350" y="2897758"/>
            <a:ext cx="6850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$59.49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818686" y="2897758"/>
            <a:ext cx="6874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$62,645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463" y="3214390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4896296" y="3304208"/>
            <a:ext cx="6874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72014" y="3304208"/>
            <a:ext cx="6850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2,847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45350" y="3304208"/>
            <a:ext cx="6850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$59.87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818686" y="3304208"/>
            <a:ext cx="6874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$170,436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749701" y="3785071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Avg. spend is nearly identical — volume drives the gap.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8503"/>
            <a:ext cx="45648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Top Products by Category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485007"/>
            <a:ext cx="4004965" cy="1379116"/>
          </a:xfrm>
          <a:prstGeom prst="roundRect">
            <a:avLst>
              <a:gd name="adj" fmla="val 431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63152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👗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Clothing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1938040"/>
            <a:ext cx="371192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Blouse — 171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Pants — 171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Shirt — 169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485007"/>
            <a:ext cx="4005039" cy="1379116"/>
          </a:xfrm>
          <a:prstGeom prst="roundRect">
            <a:avLst>
              <a:gd name="adj" fmla="val 431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9363" y="163152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💍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Accessories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1938040"/>
            <a:ext cx="3711997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Jewelry — 171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Sunglasses — 161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Belt — 161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005882"/>
            <a:ext cx="4004965" cy="1379116"/>
          </a:xfrm>
          <a:prstGeom prst="roundRect">
            <a:avLst>
              <a:gd name="adj" fmla="val 431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640" y="31524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👟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Footwear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640" y="3458914"/>
            <a:ext cx="371192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Sandals — 160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Shoes — 150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Sneakers — 145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3005882"/>
            <a:ext cx="4005039" cy="1379116"/>
          </a:xfrm>
          <a:prstGeom prst="roundRect">
            <a:avLst>
              <a:gd name="adj" fmla="val 431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9363" y="31524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🧥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Outerwear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9363" y="3458914"/>
            <a:ext cx="3711997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Jacket — 163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Coat — 161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314102"/>
            <a:ext cx="4982766" cy="26848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5875" y="3094955"/>
            <a:ext cx="238125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Power BI Dashboard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1285875" y="3536231"/>
            <a:ext cx="324609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3.9K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2313608" y="3946178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Customers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611960" y="3536231"/>
            <a:ext cx="324616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$59.76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5639693" y="3946178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Avg. Purchase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285875" y="4270623"/>
            <a:ext cx="324609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3.75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2313608" y="4680570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Avg. Rating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11960" y="4270623"/>
            <a:ext cx="324616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27%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5639693" y="4680570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Subscribed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3049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8250" y="1633463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5816" y="16290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385816" y="193558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Promote exclusive benefits to convert repeat buyers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8250" y="2450306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85816" y="24459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385816" y="2752427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Reward returning customers to grow the Loyal segment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8250" y="3267149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85816" y="3262759"/>
            <a:ext cx="19684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385816" y="3569271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Balance sales boosts with margin control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78250" y="4083993"/>
            <a:ext cx="212601" cy="21260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85816" y="40796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385816" y="438611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Focus on Young Adults and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2026-05-14T16:32:57Z</dcterms:created>
  <dcterms:modified xsi:type="dcterms:W3CDTF">2026-05-14T16:32:57Z</dcterms:modified>
</cp:coreProperties>
</file>